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97280"/>
            <a:ext cx="109728" cy="292608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دليل المستخدم الشامل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Langford Student Management System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2468880"/>
            <a:ext cx="5303520" cy="27432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إدارة الطلاب والمبيعات — معهد لانغفورد الدولي — الكويت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0" y="3474720"/>
            <a:ext cx="1737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566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الطلاب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120640" y="3474720"/>
            <a:ext cx="1737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566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064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108960" y="3474720"/>
            <a:ext cx="1737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5661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097280" y="3474720"/>
            <a:ext cx="1737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D4AF37">
                <a:alpha val="4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356616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728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22" name="Shape 15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5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45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600"/>
                      </p:stCondLst>
                      <p:childTnLst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75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90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105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120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350"/>
                      </p:stCondLst>
                      <p:childTnLst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0"/>
                      </p:stCondLst>
                      <p:childTnLst>
                        <p:par>
                          <p:cTn id="1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1650"/>
                      </p:stCondLst>
                      <p:childTnLst>
                        <p:par>
                          <p:cTn id="1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1800"/>
                      </p:stCondLst>
                      <p:childTnLst>
                        <p:par>
                          <p:cTn id="1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19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2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22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4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2550"/>
                      </p:stCondLst>
                      <p:childTnLst>
                        <p:par>
                          <p:cTn id="1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7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2700"/>
                      </p:stCondLst>
                      <p:childTnLst>
                        <p:par>
                          <p:cTn id="1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7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2850"/>
                      </p:stCondLst>
                      <p:childTnLst>
                        <p:par>
                          <p:cTn id="1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7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3000"/>
                      </p:stCondLst>
                      <p:childTnLst>
                        <p:par>
                          <p:cTn id="2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7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محتويات الدليل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4709160" y="11430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09160" y="1143000"/>
            <a:ext cx="54864" cy="822960"/>
          </a:xfrm>
          <a:prstGeom prst="rect">
            <a:avLst/>
          </a:prstGeom>
          <a:solidFill>
            <a:srgbClr val="E31E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80160"/>
            <a:ext cx="50292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2588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4960" y="1216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تسجيل الدخول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394960" y="15819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كيفية الدخول بالإيميل أو Google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709160" y="21031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709160" y="2103120"/>
            <a:ext cx="54864" cy="822960"/>
          </a:xfrm>
          <a:prstGeom prst="rect">
            <a:avLst/>
          </a:prstGeom>
          <a:solidFill>
            <a:srgbClr val="E31E2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240280"/>
            <a:ext cx="502920" cy="50292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286000"/>
            <a:ext cx="411480" cy="411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394960" y="21762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التحكم Dashboard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5394960" y="25420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 على الأداء والإحصائيات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709160" y="30632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09160" y="3063240"/>
            <a:ext cx="54864" cy="822960"/>
          </a:xfrm>
          <a:prstGeom prst="rect">
            <a:avLst/>
          </a:prstGeom>
          <a:solidFill>
            <a:srgbClr val="E31E24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200400"/>
            <a:ext cx="502920" cy="502920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246120"/>
            <a:ext cx="411480" cy="4114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94960" y="31363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الطلاب Students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5394960" y="35021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إضافة وعرض وتعديل بيانات الطلاب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4709160" y="402336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4709160" y="4023360"/>
            <a:ext cx="54864" cy="822960"/>
          </a:xfrm>
          <a:prstGeom prst="rect">
            <a:avLst/>
          </a:prstGeom>
          <a:solidFill>
            <a:srgbClr val="E31E24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4160520"/>
            <a:ext cx="502920" cy="502920"/>
          </a:xfrm>
          <a:prstGeom prst="rect">
            <a:avLst/>
          </a:prstGeom>
        </p:spPr>
      </p:pic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4206240"/>
            <a:ext cx="411480" cy="4114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94960" y="40965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المبيعات Pipeline</a:t>
            </a:r>
            <a:endParaRPr lang="en-US" sz="1300" dirty="0"/>
          </a:p>
        </p:txBody>
      </p:sp>
      <p:sp>
        <p:nvSpPr>
          <p:cNvPr id="29" name="Text 18"/>
          <p:cNvSpPr/>
          <p:nvPr/>
        </p:nvSpPr>
        <p:spPr>
          <a:xfrm>
            <a:off x="5394960" y="44622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متابعة مراحل تحويل الطلاب</a:t>
            </a:r>
            <a:endParaRPr lang="en-US" sz="1000" dirty="0"/>
          </a:p>
        </p:txBody>
      </p:sp>
      <p:sp>
        <p:nvSpPr>
          <p:cNvPr id="30" name="Shape 19"/>
          <p:cNvSpPr/>
          <p:nvPr/>
        </p:nvSpPr>
        <p:spPr>
          <a:xfrm>
            <a:off x="320040" y="11430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320040" y="1143000"/>
            <a:ext cx="54864" cy="822960"/>
          </a:xfrm>
          <a:prstGeom prst="rect">
            <a:avLst/>
          </a:prstGeom>
          <a:solidFill>
            <a:srgbClr val="E31E24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9040" y="1280160"/>
            <a:ext cx="502920" cy="502920"/>
          </a:xfrm>
          <a:prstGeom prst="rect">
            <a:avLst/>
          </a:prstGeom>
        </p:spPr>
      </p:pic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1325880"/>
            <a:ext cx="411480" cy="4114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1005840" y="1216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 Payments</a:t>
            </a:r>
            <a:endParaRPr lang="en-US" sz="1300" dirty="0"/>
          </a:p>
        </p:txBody>
      </p:sp>
      <p:sp>
        <p:nvSpPr>
          <p:cNvPr id="35" name="Text 22"/>
          <p:cNvSpPr/>
          <p:nvPr/>
        </p:nvSpPr>
        <p:spPr>
          <a:xfrm>
            <a:off x="1005840" y="15819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تتبع الرسوم والمدفوعات</a:t>
            </a:r>
            <a:endParaRPr lang="en-US" sz="1000" dirty="0"/>
          </a:p>
        </p:txBody>
      </p:sp>
      <p:sp>
        <p:nvSpPr>
          <p:cNvPr id="36" name="Shape 23"/>
          <p:cNvSpPr/>
          <p:nvPr/>
        </p:nvSpPr>
        <p:spPr>
          <a:xfrm>
            <a:off x="320040" y="21031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24"/>
          <p:cNvSpPr/>
          <p:nvPr/>
        </p:nvSpPr>
        <p:spPr>
          <a:xfrm>
            <a:off x="320040" y="2103120"/>
            <a:ext cx="54864" cy="822960"/>
          </a:xfrm>
          <a:prstGeom prst="rect">
            <a:avLst/>
          </a:prstGeom>
          <a:solidFill>
            <a:srgbClr val="E31E24"/>
          </a:solidFill>
          <a:ln/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9040" y="2240280"/>
            <a:ext cx="502920" cy="502920"/>
          </a:xfrm>
          <a:prstGeom prst="rect">
            <a:avLst/>
          </a:prstGeom>
        </p:spPr>
      </p:pic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" y="2286000"/>
            <a:ext cx="411480" cy="411480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1005840" y="21762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Reports</a:t>
            </a:r>
            <a:endParaRPr lang="en-US" sz="1300" dirty="0"/>
          </a:p>
        </p:txBody>
      </p:sp>
      <p:sp>
        <p:nvSpPr>
          <p:cNvPr id="41" name="Text 26"/>
          <p:cNvSpPr/>
          <p:nvPr/>
        </p:nvSpPr>
        <p:spPr>
          <a:xfrm>
            <a:off x="1005840" y="25420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الأداء والتحليلات</a:t>
            </a:r>
            <a:endParaRPr lang="en-US" sz="1000" dirty="0"/>
          </a:p>
        </p:txBody>
      </p:sp>
      <p:sp>
        <p:nvSpPr>
          <p:cNvPr id="42" name="Shape 27"/>
          <p:cNvSpPr/>
          <p:nvPr/>
        </p:nvSpPr>
        <p:spPr>
          <a:xfrm>
            <a:off x="320040" y="30632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28"/>
          <p:cNvSpPr/>
          <p:nvPr/>
        </p:nvSpPr>
        <p:spPr>
          <a:xfrm>
            <a:off x="320040" y="3063240"/>
            <a:ext cx="54864" cy="822960"/>
          </a:xfrm>
          <a:prstGeom prst="rect">
            <a:avLst/>
          </a:prstGeom>
          <a:solidFill>
            <a:srgbClr val="E31E24"/>
          </a:solidFill>
          <a:ln/>
        </p:spPr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9040" y="3200400"/>
            <a:ext cx="502920" cy="502920"/>
          </a:xfrm>
          <a:prstGeom prst="rect">
            <a:avLst/>
          </a:prstGeom>
        </p:spPr>
      </p:pic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920" y="3246120"/>
            <a:ext cx="411480" cy="411480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1005840" y="31363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تسجيل الدخول</a:t>
            </a:r>
            <a:endParaRPr lang="en-US" sz="1300" dirty="0"/>
          </a:p>
        </p:txBody>
      </p:sp>
      <p:sp>
        <p:nvSpPr>
          <p:cNvPr id="47" name="Text 30"/>
          <p:cNvSpPr/>
          <p:nvPr/>
        </p:nvSpPr>
        <p:spPr>
          <a:xfrm>
            <a:off x="1005840" y="35021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دخول جميع المستخدمين</a:t>
            </a:r>
            <a:endParaRPr lang="en-US" sz="1000" dirty="0"/>
          </a:p>
        </p:txBody>
      </p:sp>
      <p:sp>
        <p:nvSpPr>
          <p:cNvPr id="48" name="Shape 31"/>
          <p:cNvSpPr/>
          <p:nvPr/>
        </p:nvSpPr>
        <p:spPr>
          <a:xfrm>
            <a:off x="320040" y="402336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9" name="Shape 32"/>
          <p:cNvSpPr/>
          <p:nvPr/>
        </p:nvSpPr>
        <p:spPr>
          <a:xfrm>
            <a:off x="320040" y="4023360"/>
            <a:ext cx="54864" cy="822960"/>
          </a:xfrm>
          <a:prstGeom prst="rect">
            <a:avLst/>
          </a:prstGeom>
          <a:solidFill>
            <a:srgbClr val="E31E24"/>
          </a:solidFill>
          <a:ln/>
        </p:spPr>
      </p:sp>
      <p:pic>
        <p:nvPicPr>
          <p:cNvPr id="5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49040" y="4160520"/>
            <a:ext cx="502920" cy="502920"/>
          </a:xfrm>
          <a:prstGeom prst="rect">
            <a:avLst/>
          </a:prstGeom>
        </p:spPr>
      </p:pic>
      <p:pic>
        <p:nvPicPr>
          <p:cNvPr id="5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2920" y="4206240"/>
            <a:ext cx="411480" cy="411480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1005840" y="40965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الإعدادات Settings</a:t>
            </a:r>
            <a:endParaRPr lang="en-US" sz="1300" dirty="0"/>
          </a:p>
        </p:txBody>
      </p:sp>
      <p:sp>
        <p:nvSpPr>
          <p:cNvPr id="53" name="Text 34"/>
          <p:cNvSpPr/>
          <p:nvPr/>
        </p:nvSpPr>
        <p:spPr>
          <a:xfrm>
            <a:off x="1005840" y="44622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المستخدمين والصلاحيات</a:t>
            </a:r>
            <a:endParaRPr lang="en-US" sz="1000" dirty="0"/>
          </a:p>
        </p:txBody>
      </p:sp>
      <p:sp>
        <p:nvSpPr>
          <p:cNvPr id="54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55" name="Shape 36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8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6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24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32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80"/>
                      </p:stCondLst>
                      <p:childTnLst>
                        <p:par>
                          <p:cTn id="1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160"/>
                      </p:stCondLst>
                      <p:childTnLst>
                        <p:par>
                          <p:cTn id="1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240"/>
                      </p:stCondLst>
                      <p:childTnLst>
                        <p:par>
                          <p:cTn id="1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32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8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16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240"/>
                      </p:stCondLst>
                      <p:childTnLst>
                        <p:par>
                          <p:cTn id="1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320"/>
                      </p:stCondLst>
                      <p:childTnLst>
                        <p:par>
                          <p:cTn id="1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80"/>
                      </p:stCondLst>
                      <p:childTnLst>
                        <p:par>
                          <p:cTn id="2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160"/>
                      </p:stCondLst>
                      <p:childTnLst>
                        <p:par>
                          <p:cTn id="2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240"/>
                      </p:stCondLst>
                      <p:childTnLst>
                        <p:par>
                          <p:cTn id="2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32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8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16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240"/>
                      </p:stCondLst>
                      <p:childTnLst>
                        <p:par>
                          <p:cTn id="2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320"/>
                      </p:stCondLst>
                      <p:childTnLst>
                        <p:par>
                          <p:cTn id="2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80"/>
                      </p:stCondLst>
                      <p:childTnLst>
                        <p:par>
                          <p:cTn id="3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160"/>
                      </p:stCondLst>
                      <p:childTnLst>
                        <p:par>
                          <p:cTn id="3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240"/>
                      </p:stCondLst>
                      <p:childTnLst>
                        <p:par>
                          <p:cTn id="3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32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0"/>
                      </p:stCondLst>
                      <p:childTnLst>
                        <p:par>
                          <p:cTn id="34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7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80"/>
                      </p:stCondLst>
                      <p:childTnLst>
                        <p:par>
                          <p:cTn id="3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7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160"/>
                      </p:stCondLst>
                      <p:childTnLst>
                        <p:par>
                          <p:cTn id="3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7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240"/>
                      </p:stCondLst>
                      <p:childTnLst>
                        <p:par>
                          <p:cTn id="3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7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320"/>
                      </p:stCondLst>
                      <p:childTnLst>
                        <p:par>
                          <p:cTn id="3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7" dur="40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7" dur="40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80"/>
                      </p:stCondLst>
                      <p:childTnLst>
                        <p:par>
                          <p:cTn id="4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7" dur="40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160"/>
                      </p:stCondLst>
                      <p:childTnLst>
                        <p:par>
                          <p:cTn id="4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7" dur="40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240"/>
                      </p:stCondLst>
                      <p:childTnLst>
                        <p:par>
                          <p:cTn id="4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7" dur="40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>
                      <p:stCondLst>
                        <p:cond delay="320"/>
                      </p:stCondLst>
                      <p:childTnLst>
                        <p:par>
                          <p:cTn id="4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7" dur="40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0"/>
                      </p:stCondLst>
                      <p:childTnLst>
                        <p:par>
                          <p:cTn id="44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7" dur="40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80"/>
                      </p:stCondLst>
                      <p:childTnLst>
                        <p:par>
                          <p:cTn id="4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7" dur="40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>
                      <p:stCondLst>
                        <p:cond delay="160"/>
                      </p:stCondLst>
                      <p:childTnLst>
                        <p:par>
                          <p:cTn id="4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7" dur="40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240"/>
                      </p:stCondLst>
                      <p:childTnLst>
                        <p:par>
                          <p:cTn id="4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7" dur="40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320"/>
                      </p:stCondLst>
                      <p:childTnLst>
                        <p:par>
                          <p:cTn id="4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7" dur="40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0"/>
                      </p:stCondLst>
                      <p:childTnLst>
                        <p:par>
                          <p:cTn id="49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7" dur="400"/>
                                  <p:tgtEl>
                                    <p:spTgt spid="5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80"/>
                      </p:stCondLst>
                      <p:childTnLst>
                        <p:par>
                          <p:cTn id="50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7" dur="400"/>
                                  <p:tgtEl>
                                    <p:spTgt spid="5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160"/>
                      </p:stCondLst>
                      <p:childTnLst>
                        <p:par>
                          <p:cTn id="5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7" dur="400"/>
                                  <p:tgtEl>
                                    <p:spTgt spid="5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240"/>
                      </p:stCondLst>
                      <p:childTnLst>
                        <p:par>
                          <p:cTn id="5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7" dur="40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320"/>
                      </p:stCondLst>
                      <p:childTnLst>
                        <p:par>
                          <p:cTn id="5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7" dur="400"/>
                                  <p:tgtEl>
                                    <p:spTgt spid="5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57200" y="-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0" dirty="0"/>
          </a:p>
        </p:txBody>
      </p:sp>
      <p:sp>
        <p:nvSpPr>
          <p:cNvPr id="4" name="Shape 1"/>
          <p:cNvSpPr/>
          <p:nvPr/>
        </p:nvSpPr>
        <p:spPr>
          <a:xfrm>
            <a:off x="3657600" y="731520"/>
            <a:ext cx="1645920" cy="1645920"/>
          </a:xfrm>
          <a:prstGeom prst="ellipse">
            <a:avLst/>
          </a:prstGeom>
          <a:solidFill>
            <a:srgbClr val="E31E2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القسم 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شاشة تسجيل الدخول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 — الدخول الآمن للنظام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0" y="4114800"/>
            <a:ext cx="3657600" cy="27432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11" name="Shape 7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0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2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30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00"/>
                      </p:stCondLst>
                      <p:childTnLst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5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60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0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80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900"/>
                      </p:stCondLst>
                      <p:childTnLst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شاشة تسجيل الدخول — Login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00584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0" y="116128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00584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40680" y="100584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042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الدخول بالإيميل وكلمة المرور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57784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أدخل الإيميل المخصص لك ثم كلمة المرور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89280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173736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73736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773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الدخول بحساب Google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7784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اضغط Sign in with Google للدخول السريع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262432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246888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40680" y="246888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0"/>
          <p:cNvSpPr/>
          <p:nvPr/>
        </p:nvSpPr>
        <p:spPr>
          <a:xfrm>
            <a:off x="5577840" y="2505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نسيت كلمة المرور؟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57784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اضغط Forgot your password للاسترداد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7" name="Text 23"/>
          <p:cNvSpPr/>
          <p:nvPr/>
        </p:nvSpPr>
        <p:spPr>
          <a:xfrm>
            <a:off x="84124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40680" y="320040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40680" y="320040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6"/>
          <p:cNvSpPr/>
          <p:nvPr/>
        </p:nvSpPr>
        <p:spPr>
          <a:xfrm>
            <a:off x="557784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نوعين صلاحيات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57784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صلاحيات كاملة | Sales — مبيعات فقط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33" name="Shape 29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50"/>
                      </p:stCondLst>
                      <p:childTnLst>
                        <p:par>
                          <p:cTn id="1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100"/>
                      </p:stCondLst>
                      <p:childTnLst>
                        <p:par>
                          <p:cTn id="1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2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5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100"/>
                      </p:stCondLst>
                      <p:childTnLst>
                        <p:par>
                          <p:cTn id="2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5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0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50"/>
                      </p:stCondLst>
                      <p:childTnLst>
                        <p:par>
                          <p:cTn id="2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100"/>
                      </p:stCondLst>
                      <p:childTnLst>
                        <p:par>
                          <p:cTn id="2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150"/>
                      </p:stCondLst>
                      <p:childTnLst>
                        <p:par>
                          <p:cTn id="3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200"/>
                      </p:stCondLst>
                      <p:childTnLst>
                        <p:par>
                          <p:cTn id="3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57200" y="-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0" dirty="0"/>
          </a:p>
        </p:txBody>
      </p:sp>
      <p:sp>
        <p:nvSpPr>
          <p:cNvPr id="4" name="Shape 1"/>
          <p:cNvSpPr/>
          <p:nvPr/>
        </p:nvSpPr>
        <p:spPr>
          <a:xfrm>
            <a:off x="3657600" y="731520"/>
            <a:ext cx="1645920" cy="1645920"/>
          </a:xfrm>
          <a:prstGeom prst="ellipse">
            <a:avLst/>
          </a:prstGeom>
          <a:solidFill>
            <a:srgbClr val="E31E2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القسم 2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لوحة التحكم — Dashboard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 على أداء المعهد والإحصائيات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0" y="4114800"/>
            <a:ext cx="3657600" cy="27432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11" name="Shape 7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0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2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30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00"/>
                      </p:stCondLst>
                      <p:childTnLst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5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60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0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80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900"/>
                      </p:stCondLst>
                      <p:childTnLst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لوحة التحكم — Dashboard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00584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0" y="116128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00584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40680" y="100584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042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الطلاب (Total Students)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57784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جميع الطلاب المسجلين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89280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173736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73736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773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الإيرادات (Total Revenue)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7784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مجموع الرسوم المحصّلة بالدينار الكويتي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262432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246888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40680" y="246888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0"/>
          <p:cNvSpPr/>
          <p:nvPr/>
        </p:nvSpPr>
        <p:spPr>
          <a:xfrm>
            <a:off x="5577840" y="2505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 المعلقة (Pending)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57784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الرسوم التي لم تُسدَّد بعد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7" name="Text 23"/>
          <p:cNvSpPr/>
          <p:nvPr/>
        </p:nvSpPr>
        <p:spPr>
          <a:xfrm>
            <a:off x="84124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40680" y="320040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40680" y="320040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6"/>
          <p:cNvSpPr/>
          <p:nvPr/>
        </p:nvSpPr>
        <p:spPr>
          <a:xfrm>
            <a:off x="557784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التحويل (Conversion Rate)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57784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الملتحقين من المهتمين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412480" y="408736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33" name="Text 29"/>
          <p:cNvSpPr/>
          <p:nvPr/>
        </p:nvSpPr>
        <p:spPr>
          <a:xfrm>
            <a:off x="841248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440680" y="393192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440680" y="393192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6" name="Text 32"/>
          <p:cNvSpPr/>
          <p:nvPr/>
        </p:nvSpPr>
        <p:spPr>
          <a:xfrm>
            <a:off x="5577840" y="3968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الشهري + النشاط الأخير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577840" y="4233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 التقدم وآخر التحديثات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39" name="Shape 35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50"/>
                      </p:stCondLst>
                      <p:childTnLst>
                        <p:par>
                          <p:cTn id="1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100"/>
                      </p:stCondLst>
                      <p:childTnLst>
                        <p:par>
                          <p:cTn id="1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2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5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100"/>
                      </p:stCondLst>
                      <p:childTnLst>
                        <p:par>
                          <p:cTn id="2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5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0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50"/>
                      </p:stCondLst>
                      <p:childTnLst>
                        <p:par>
                          <p:cTn id="2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100"/>
                      </p:stCondLst>
                      <p:childTnLst>
                        <p:par>
                          <p:cTn id="2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150"/>
                      </p:stCondLst>
                      <p:childTnLst>
                        <p:par>
                          <p:cTn id="3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200"/>
                      </p:stCondLst>
                      <p:childTnLst>
                        <p:par>
                          <p:cTn id="3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5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100"/>
                      </p:stCondLst>
                      <p:childTnLst>
                        <p:par>
                          <p:cTn id="3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7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150"/>
                      </p:stCondLst>
                      <p:childTnLst>
                        <p:par>
                          <p:cTn id="3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7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200"/>
                      </p:stCondLst>
                      <p:childTnLst>
                        <p:par>
                          <p:cTn id="3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7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77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57200" y="-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0" dirty="0"/>
          </a:p>
        </p:txBody>
      </p:sp>
      <p:sp>
        <p:nvSpPr>
          <p:cNvPr id="4" name="Shape 1"/>
          <p:cNvSpPr/>
          <p:nvPr/>
        </p:nvSpPr>
        <p:spPr>
          <a:xfrm>
            <a:off x="3657600" y="731520"/>
            <a:ext cx="1645920" cy="1645920"/>
          </a:xfrm>
          <a:prstGeom prst="ellipse">
            <a:avLst/>
          </a:prstGeom>
          <a:solidFill>
            <a:srgbClr val="E31E2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القسم 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إدارة الطلاب — Students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إضافة وعرض وتعديل بيانات الطلاب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0" y="4114800"/>
            <a:ext cx="3657600" cy="27432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11" name="Shape 7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0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2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30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00"/>
                      </p:stCondLst>
                      <p:childTnLst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5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60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0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80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900"/>
                      </p:stCondLst>
                      <p:childTnLst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قائمة الطلاب — Students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00584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0" y="116128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00584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40680" y="100584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042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سريع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57784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ابحث بالاسم أو رقم الهاتف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89280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173736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73736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773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فلترة حسب الحالة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7784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الكل / Lead / Enrolled / Paid...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262432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246888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40680" y="246888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0"/>
          <p:cNvSpPr/>
          <p:nvPr/>
        </p:nvSpPr>
        <p:spPr>
          <a:xfrm>
            <a:off x="5577840" y="2505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إظهار المؤرشفين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57784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تفعيل Show archived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7" name="Text 23"/>
          <p:cNvSpPr/>
          <p:nvPr/>
        </p:nvSpPr>
        <p:spPr>
          <a:xfrm>
            <a:off x="84124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40680" y="320040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40680" y="320040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6"/>
          <p:cNvSpPr/>
          <p:nvPr/>
        </p:nvSpPr>
        <p:spPr>
          <a:xfrm>
            <a:off x="557784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Student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57784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الزر الأحمر لإضافة طالب جديد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412480" y="408736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33" name="Text 29"/>
          <p:cNvSpPr/>
          <p:nvPr/>
        </p:nvSpPr>
        <p:spPr>
          <a:xfrm>
            <a:off x="841248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440680" y="393192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440680" y="393192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6" name="Text 32"/>
          <p:cNvSpPr/>
          <p:nvPr/>
        </p:nvSpPr>
        <p:spPr>
          <a:xfrm>
            <a:off x="5577840" y="3968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الطالب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577840" y="4233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اضغط اسم الطالب لعرض التفاصيل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39" name="Shape 35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50"/>
                      </p:stCondLst>
                      <p:childTnLst>
                        <p:par>
                          <p:cTn id="1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100"/>
                      </p:stCondLst>
                      <p:childTnLst>
                        <p:par>
                          <p:cTn id="1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2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5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100"/>
                      </p:stCondLst>
                      <p:childTnLst>
                        <p:par>
                          <p:cTn id="2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5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0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50"/>
                      </p:stCondLst>
                      <p:childTnLst>
                        <p:par>
                          <p:cTn id="2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100"/>
                      </p:stCondLst>
                      <p:childTnLst>
                        <p:par>
                          <p:cTn id="2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150"/>
                      </p:stCondLst>
                      <p:childTnLst>
                        <p:par>
                          <p:cTn id="3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200"/>
                      </p:stCondLst>
                      <p:childTnLst>
                        <p:par>
                          <p:cTn id="3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5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100"/>
                      </p:stCondLst>
                      <p:childTnLst>
                        <p:par>
                          <p:cTn id="3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7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150"/>
                      </p:stCondLst>
                      <p:childTnLst>
                        <p:par>
                          <p:cTn id="3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7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200"/>
                      </p:stCondLst>
                      <p:childTnLst>
                        <p:par>
                          <p:cTn id="3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7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77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إضافة طالب جديد — Add Student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00584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0" y="116128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00584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40680" y="100584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042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الكامل *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57784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الاسم الرباعي — حقل إلزامي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89280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173736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73736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773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الهاتف *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7784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رقم التواصل — حقل إلزامي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262432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246888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40680" y="246888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0"/>
          <p:cNvSpPr/>
          <p:nvPr/>
        </p:nvSpPr>
        <p:spPr>
          <a:xfrm>
            <a:off x="5577840" y="2505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57784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إيميل الطالب — اختياري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7" name="Text 23"/>
          <p:cNvSpPr/>
          <p:nvPr/>
        </p:nvSpPr>
        <p:spPr>
          <a:xfrm>
            <a:off x="84124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40680" y="320040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40680" y="320040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6"/>
          <p:cNvSpPr/>
          <p:nvPr/>
        </p:nvSpPr>
        <p:spPr>
          <a:xfrm>
            <a:off x="557784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مصدر الطلب (Lead Source) *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57784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/ Walk-in / Referral...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412480" y="408736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33" name="Text 29"/>
          <p:cNvSpPr/>
          <p:nvPr/>
        </p:nvSpPr>
        <p:spPr>
          <a:xfrm>
            <a:off x="841248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440680" y="393192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440680" y="393192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6" name="Text 32"/>
          <p:cNvSpPr/>
          <p:nvPr/>
        </p:nvSpPr>
        <p:spPr>
          <a:xfrm>
            <a:off x="5577840" y="3968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المندوب المسؤول *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577840" y="4233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تحديد موظف المبيعات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39" name="Shape 35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50"/>
                      </p:stCondLst>
                      <p:childTnLst>
                        <p:par>
                          <p:cTn id="1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100"/>
                      </p:stCondLst>
                      <p:childTnLst>
                        <p:par>
                          <p:cTn id="1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2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5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100"/>
                      </p:stCondLst>
                      <p:childTnLst>
                        <p:par>
                          <p:cTn id="2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5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0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50"/>
                      </p:stCondLst>
                      <p:childTnLst>
                        <p:par>
                          <p:cTn id="2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100"/>
                      </p:stCondLst>
                      <p:childTnLst>
                        <p:par>
                          <p:cTn id="2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150"/>
                      </p:stCondLst>
                      <p:childTnLst>
                        <p:par>
                          <p:cTn id="3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200"/>
                      </p:stCondLst>
                      <p:childTnLst>
                        <p:par>
                          <p:cTn id="3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5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100"/>
                      </p:stCondLst>
                      <p:childTnLst>
                        <p:par>
                          <p:cTn id="3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7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150"/>
                      </p:stCondLst>
                      <p:childTnLst>
                        <p:par>
                          <p:cTn id="3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7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200"/>
                      </p:stCondLst>
                      <p:childTnLst>
                        <p:par>
                          <p:cTn id="3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7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77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57200" y="-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0" dirty="0"/>
          </a:p>
        </p:txBody>
      </p:sp>
      <p:sp>
        <p:nvSpPr>
          <p:cNvPr id="4" name="Shape 1"/>
          <p:cNvSpPr/>
          <p:nvPr/>
        </p:nvSpPr>
        <p:spPr>
          <a:xfrm>
            <a:off x="3657600" y="731520"/>
            <a:ext cx="1645920" cy="1645920"/>
          </a:xfrm>
          <a:prstGeom prst="ellipse">
            <a:avLst/>
          </a:prstGeom>
          <a:solidFill>
            <a:srgbClr val="E31E2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القسم 4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خط المبيعات — Pipeline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متابعة مراحل تحويل الطلاب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0" y="4114800"/>
            <a:ext cx="3657600" cy="27432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11" name="Shape 7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0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2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30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00"/>
                      </p:stCondLst>
                      <p:childTnLst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5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60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0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80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900"/>
                      </p:stCondLst>
                      <p:childTnLst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خط المبيعات — Sales Pipeline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96012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577840" y="960120"/>
            <a:ext cx="3200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577840" y="960120"/>
            <a:ext cx="73152" cy="438912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0" y="996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75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080760" y="10149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— مهتم جديد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182880" cy="10972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577840" y="1490472"/>
            <a:ext cx="3200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577840" y="1490472"/>
            <a:ext cx="73152" cy="438912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15" name="Text 10"/>
          <p:cNvSpPr/>
          <p:nvPr/>
        </p:nvSpPr>
        <p:spPr>
          <a:xfrm>
            <a:off x="571500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6EF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080760" y="1545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Contacted — تم التواصل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901952"/>
            <a:ext cx="182880" cy="10972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577840" y="2020824"/>
            <a:ext cx="3200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577840" y="2020824"/>
            <a:ext cx="73152" cy="43891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4"/>
          <p:cNvSpPr/>
          <p:nvPr/>
        </p:nvSpPr>
        <p:spPr>
          <a:xfrm>
            <a:off x="571500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080760" y="20756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— تم التقييم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432304"/>
            <a:ext cx="182880" cy="10972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577840" y="2551176"/>
            <a:ext cx="3200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577840" y="2551176"/>
            <a:ext cx="73152" cy="438912"/>
          </a:xfrm>
          <a:prstGeom prst="rect">
            <a:avLst/>
          </a:prstGeom>
          <a:solidFill>
            <a:srgbClr val="FD7E14"/>
          </a:solidFill>
          <a:ln/>
        </p:spPr>
      </p:sp>
      <p:sp>
        <p:nvSpPr>
          <p:cNvPr id="25" name="Text 18"/>
          <p:cNvSpPr/>
          <p:nvPr/>
        </p:nvSpPr>
        <p:spPr>
          <a:xfrm>
            <a:off x="571500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7E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08076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— مسجّل</a:t>
            </a:r>
            <a:endParaRPr lang="en-US" sz="12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962656"/>
            <a:ext cx="182880" cy="10972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577840" y="3081528"/>
            <a:ext cx="32004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577840" y="3081528"/>
            <a:ext cx="73152" cy="43891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0" name="Text 22"/>
          <p:cNvSpPr/>
          <p:nvPr/>
        </p:nvSpPr>
        <p:spPr>
          <a:xfrm>
            <a:off x="5715000" y="3118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6080760" y="3136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— سدّد الرسوم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5440680" y="3749040"/>
            <a:ext cx="338328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28A745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384048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53212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اسحب بطاقة الطالب وأفلتها لتغيير مرحلته!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36" name="Shape 27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50"/>
                      </p:stCondLst>
                      <p:childTnLst>
                        <p:par>
                          <p:cTn id="1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100"/>
                      </p:stCondLst>
                      <p:childTnLst>
                        <p:par>
                          <p:cTn id="1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2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5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100"/>
                      </p:stCondLst>
                      <p:childTnLst>
                        <p:par>
                          <p:cTn id="2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5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0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50"/>
                      </p:stCondLst>
                      <p:childTnLst>
                        <p:par>
                          <p:cTn id="2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100"/>
                      </p:stCondLst>
                      <p:childTnLst>
                        <p:par>
                          <p:cTn id="2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150"/>
                      </p:stCondLst>
                      <p:childTnLst>
                        <p:par>
                          <p:cTn id="3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200"/>
                      </p:stCondLst>
                      <p:childTnLst>
                        <p:par>
                          <p:cTn id="3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5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100"/>
                      </p:stCondLst>
                      <p:childTnLst>
                        <p:par>
                          <p:cTn id="3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7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57200" y="-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0" dirty="0"/>
          </a:p>
        </p:txBody>
      </p:sp>
      <p:sp>
        <p:nvSpPr>
          <p:cNvPr id="4" name="Shape 1"/>
          <p:cNvSpPr/>
          <p:nvPr/>
        </p:nvSpPr>
        <p:spPr>
          <a:xfrm>
            <a:off x="3657600" y="731520"/>
            <a:ext cx="1645920" cy="1645920"/>
          </a:xfrm>
          <a:prstGeom prst="ellipse">
            <a:avLst/>
          </a:prstGeom>
          <a:solidFill>
            <a:srgbClr val="E31E2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القسم 5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المدفوعات — Payments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تتبع الرسوم والمدفوعات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0" y="4114800"/>
            <a:ext cx="3657600" cy="27432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11" name="Shape 7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0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2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30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00"/>
                      </p:stCondLst>
                      <p:childTnLst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5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60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0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80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900"/>
                      </p:stCondLst>
                      <p:childTnLst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المدفوعات — Payments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00584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0" y="116128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00584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40680" y="100584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042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الرسوم (Total Fees)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57784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مجموع كل الرسوم المسجلة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89280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173736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73736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773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المبالغ المحصّلة (Collected)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7784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تم تحصيله — بالأخضر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262432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246888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40680" y="246888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0"/>
          <p:cNvSpPr/>
          <p:nvPr/>
        </p:nvSpPr>
        <p:spPr>
          <a:xfrm>
            <a:off x="5577840" y="2505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المبالغ المعلقة (Pending)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57784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لم يُسدَّد — بالأحمر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7" name="Text 23"/>
          <p:cNvSpPr/>
          <p:nvPr/>
        </p:nvSpPr>
        <p:spPr>
          <a:xfrm>
            <a:off x="84124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40680" y="320040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40680" y="320040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6"/>
          <p:cNvSpPr/>
          <p:nvPr/>
        </p:nvSpPr>
        <p:spPr>
          <a:xfrm>
            <a:off x="557784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فلترة حسب الحالة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57784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 paid / partial / pending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412480" y="408736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33" name="Text 29"/>
          <p:cNvSpPr/>
          <p:nvPr/>
        </p:nvSpPr>
        <p:spPr>
          <a:xfrm>
            <a:off x="841248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440680" y="393192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440680" y="393192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6" name="Text 32"/>
          <p:cNvSpPr/>
          <p:nvPr/>
        </p:nvSpPr>
        <p:spPr>
          <a:xfrm>
            <a:off x="5577840" y="3968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كل طالب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577840" y="4233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الاسم، الرسوم، المسدَّد، المتبقي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39" name="Shape 35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50"/>
                      </p:stCondLst>
                      <p:childTnLst>
                        <p:par>
                          <p:cTn id="1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100"/>
                      </p:stCondLst>
                      <p:childTnLst>
                        <p:par>
                          <p:cTn id="1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2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5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100"/>
                      </p:stCondLst>
                      <p:childTnLst>
                        <p:par>
                          <p:cTn id="2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5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0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50"/>
                      </p:stCondLst>
                      <p:childTnLst>
                        <p:par>
                          <p:cTn id="2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100"/>
                      </p:stCondLst>
                      <p:childTnLst>
                        <p:par>
                          <p:cTn id="2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150"/>
                      </p:stCondLst>
                      <p:childTnLst>
                        <p:par>
                          <p:cTn id="3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200"/>
                      </p:stCondLst>
                      <p:childTnLst>
                        <p:par>
                          <p:cTn id="3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5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100"/>
                      </p:stCondLst>
                      <p:childTnLst>
                        <p:par>
                          <p:cTn id="3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7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150"/>
                      </p:stCondLst>
                      <p:childTnLst>
                        <p:par>
                          <p:cTn id="3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7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200"/>
                      </p:stCondLst>
                      <p:childTnLst>
                        <p:par>
                          <p:cTn id="3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7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77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57200" y="-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0" dirty="0"/>
          </a:p>
        </p:txBody>
      </p:sp>
      <p:sp>
        <p:nvSpPr>
          <p:cNvPr id="4" name="Shape 1"/>
          <p:cNvSpPr/>
          <p:nvPr/>
        </p:nvSpPr>
        <p:spPr>
          <a:xfrm>
            <a:off x="3657600" y="731520"/>
            <a:ext cx="1645920" cy="1645920"/>
          </a:xfrm>
          <a:prstGeom prst="ellipse">
            <a:avLst/>
          </a:prstGeom>
          <a:solidFill>
            <a:srgbClr val="E31E2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القسم 6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التقارير — Reports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الأداء وتحليل مصادر الطلاب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0" y="4114800"/>
            <a:ext cx="3657600" cy="27432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11" name="Shape 7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0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2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30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00"/>
                      </p:stCondLst>
                      <p:childTnLst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5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60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0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80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900"/>
                      </p:stCondLst>
                      <p:childTnLst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التقارير — Reports &amp; Analytics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00584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0" y="116128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00584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40680" y="100584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042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الطلاب (Lead Sources)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57784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رسم بياني يوضح مصادر الاستقطاب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89280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173736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73736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773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الحالات (Status Distribution)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7784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الطلاب في كل مرحلة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262432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246888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40680" y="246888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0"/>
          <p:cNvSpPr/>
          <p:nvPr/>
        </p:nvSpPr>
        <p:spPr>
          <a:xfrm>
            <a:off x="5577840" y="2505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فريق المبيعات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57784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مقارنة: الطلاب، التحويل، الإيرادات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7" name="Text 23"/>
          <p:cNvSpPr/>
          <p:nvPr/>
        </p:nvSpPr>
        <p:spPr>
          <a:xfrm>
            <a:off x="84124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40680" y="320040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40680" y="320040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6"/>
          <p:cNvSpPr/>
          <p:nvPr/>
        </p:nvSpPr>
        <p:spPr>
          <a:xfrm>
            <a:off x="557784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CSV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57784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اضغط Export CSV لتحميل كجدول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5440680" y="4023360"/>
            <a:ext cx="3429000" cy="365760"/>
          </a:xfrm>
          <a:prstGeom prst="rect">
            <a:avLst/>
          </a:prstGeom>
          <a:solidFill>
            <a:srgbClr val="FFF3CD"/>
          </a:solidFill>
          <a:ln w="6350">
            <a:solidFill>
              <a:srgbClr val="D4AF37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078224"/>
            <a:ext cx="228600" cy="2286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532120" y="4069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الصفحة للمدير فقط — Admin Only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36" name="Shape 31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50"/>
                      </p:stCondLst>
                      <p:childTnLst>
                        <p:par>
                          <p:cTn id="1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100"/>
                      </p:stCondLst>
                      <p:childTnLst>
                        <p:par>
                          <p:cTn id="1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2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5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100"/>
                      </p:stCondLst>
                      <p:childTnLst>
                        <p:par>
                          <p:cTn id="2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5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0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50"/>
                      </p:stCondLst>
                      <p:childTnLst>
                        <p:par>
                          <p:cTn id="2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100"/>
                      </p:stCondLst>
                      <p:childTnLst>
                        <p:par>
                          <p:cTn id="2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150"/>
                      </p:stCondLst>
                      <p:childTnLst>
                        <p:par>
                          <p:cTn id="3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200"/>
                      </p:stCondLst>
                      <p:childTnLst>
                        <p:par>
                          <p:cTn id="3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5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100"/>
                      </p:stCondLst>
                      <p:childTnLst>
                        <p:par>
                          <p:cTn id="3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7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57200" y="-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0" dirty="0"/>
          </a:p>
        </p:txBody>
      </p:sp>
      <p:sp>
        <p:nvSpPr>
          <p:cNvPr id="4" name="Shape 1"/>
          <p:cNvSpPr/>
          <p:nvPr/>
        </p:nvSpPr>
        <p:spPr>
          <a:xfrm>
            <a:off x="3657600" y="731520"/>
            <a:ext cx="1645920" cy="1645920"/>
          </a:xfrm>
          <a:prstGeom prst="ellipse">
            <a:avLst/>
          </a:prstGeom>
          <a:solidFill>
            <a:srgbClr val="E31E2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القسم 7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تقرير تسجيل الدخول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Report — سجل دخول المستخدمين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0" y="4114800"/>
            <a:ext cx="3657600" cy="27432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11" name="Shape 7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0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2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30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00"/>
                      </p:stCondLst>
                      <p:childTnLst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5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60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0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80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900"/>
                      </p:stCondLst>
                      <p:childTnLst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تقرير تسجيل الدخول — Login Report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00584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0" y="116128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00584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40680" y="100584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042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عمليات الدخول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57784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مجموع مرات الدخول منذ بدء النظام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89280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173736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73736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773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دخول اليوم (Today's Logins)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7784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الدخول + المستخدمين الفريدين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262432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246888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40680" y="246888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0"/>
          <p:cNvSpPr/>
          <p:nvPr/>
        </p:nvSpPr>
        <p:spPr>
          <a:xfrm>
            <a:off x="5577840" y="2505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دخول هذا الأسبوع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57784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آخر 7 أيام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7" name="Text 23"/>
          <p:cNvSpPr/>
          <p:nvPr/>
        </p:nvSpPr>
        <p:spPr>
          <a:xfrm>
            <a:off x="84124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40680" y="320040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40680" y="320040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6"/>
          <p:cNvSpPr/>
          <p:nvPr/>
        </p:nvSpPr>
        <p:spPr>
          <a:xfrm>
            <a:off x="557784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تفصيلي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57784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الاسم، الإيميل، تاريخ ووقت الدخول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5440680" y="4023360"/>
            <a:ext cx="3429000" cy="365760"/>
          </a:xfrm>
          <a:prstGeom prst="rect">
            <a:avLst/>
          </a:prstGeom>
          <a:solidFill>
            <a:srgbClr val="FFF3CD"/>
          </a:solidFill>
          <a:ln w="6350">
            <a:solidFill>
              <a:srgbClr val="D4AF37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078224"/>
            <a:ext cx="228600" cy="2286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532120" y="4069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للمدير فقط — يسجّل كل دخول تلقائياً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36" name="Shape 31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50"/>
                      </p:stCondLst>
                      <p:childTnLst>
                        <p:par>
                          <p:cTn id="1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100"/>
                      </p:stCondLst>
                      <p:childTnLst>
                        <p:par>
                          <p:cTn id="1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2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5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100"/>
                      </p:stCondLst>
                      <p:childTnLst>
                        <p:par>
                          <p:cTn id="2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5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0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50"/>
                      </p:stCondLst>
                      <p:childTnLst>
                        <p:par>
                          <p:cTn id="2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100"/>
                      </p:stCondLst>
                      <p:childTnLst>
                        <p:par>
                          <p:cTn id="2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150"/>
                      </p:stCondLst>
                      <p:childTnLst>
                        <p:par>
                          <p:cTn id="3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200"/>
                      </p:stCondLst>
                      <p:childTnLst>
                        <p:par>
                          <p:cTn id="3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5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100"/>
                      </p:stCondLst>
                      <p:childTnLst>
                        <p:par>
                          <p:cTn id="3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7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57200" y="-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>
                    <a:alpha val="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8000" dirty="0"/>
          </a:p>
        </p:txBody>
      </p:sp>
      <p:sp>
        <p:nvSpPr>
          <p:cNvPr id="4" name="Shape 1"/>
          <p:cNvSpPr/>
          <p:nvPr/>
        </p:nvSpPr>
        <p:spPr>
          <a:xfrm>
            <a:off x="3657600" y="731520"/>
            <a:ext cx="1645920" cy="1645920"/>
          </a:xfrm>
          <a:prstGeom prst="ellipse">
            <a:avLst/>
          </a:prstGeom>
          <a:solidFill>
            <a:srgbClr val="E31E2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القسم 8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الإعدادات — Settings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المستخدمين والصلاحيات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0" y="4114800"/>
            <a:ext cx="3657600" cy="27432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11" name="Shape 7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6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0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2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30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6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400"/>
                      </p:stCondLst>
                      <p:childTnLst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6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5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6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60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6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70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6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80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6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900"/>
                      </p:stCondLst>
                      <p:childTnLst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6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الإعدادات — Settings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00584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0" y="116128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00584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40680" y="100584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042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المستخدمين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57784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 حسابات، تعديل أدوار، حذف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89280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173736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73736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773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إعدادات النظام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7784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مصادر الطلاب، المستويات — قريباً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262432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246888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40680" y="246888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0"/>
          <p:cNvSpPr/>
          <p:nvPr/>
        </p:nvSpPr>
        <p:spPr>
          <a:xfrm>
            <a:off x="5577840" y="2505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البيانات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57784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نسخة احتياطية — قريباً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27" name="Shape 23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250"/>
                      </p:stCondLst>
                      <p:childTnLst>
                        <p:par>
                          <p:cTn id="12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5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0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15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200"/>
                      </p:stCondLst>
                      <p:childTnLst>
                        <p:par>
                          <p:cTn id="1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250"/>
                      </p:stCondLst>
                      <p:childTnLst>
                        <p:par>
                          <p:cTn id="1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1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150"/>
                      </p:stCondLst>
                      <p:childTnLst>
                        <p:par>
                          <p:cTn id="22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200"/>
                      </p:stCondLst>
                      <p:childTnLst>
                        <p:par>
                          <p:cTn id="23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250"/>
                      </p:stCondLst>
                      <p:childTnLst>
                        <p:par>
                          <p:cTn id="24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إدارة المستخدمين — User Management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00584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0" y="116128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00584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40680" y="100584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042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المستخدمين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57784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الاسم، الإيميل، الدور، الهدف، الحالة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89280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173736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73736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773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Add User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7784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لإنشاء حساب جديد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262432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246888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40680" y="246888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0"/>
          <p:cNvSpPr/>
          <p:nvPr/>
        </p:nvSpPr>
        <p:spPr>
          <a:xfrm>
            <a:off x="5577840" y="2505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المستخدم ✏️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57784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أيقونة القلم لتعديل البيانات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7" name="Text 23"/>
          <p:cNvSpPr/>
          <p:nvPr/>
        </p:nvSpPr>
        <p:spPr>
          <a:xfrm>
            <a:off x="84124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40680" y="320040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40680" y="320040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6"/>
          <p:cNvSpPr/>
          <p:nvPr/>
        </p:nvSpPr>
        <p:spPr>
          <a:xfrm>
            <a:off x="557784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حذف المستخدم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57784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زر Delete User من صفحة التعديل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412480" y="408736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33" name="Text 29"/>
          <p:cNvSpPr/>
          <p:nvPr/>
        </p:nvSpPr>
        <p:spPr>
          <a:xfrm>
            <a:off x="841248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440680" y="393192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440680" y="393192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6" name="Text 32"/>
          <p:cNvSpPr/>
          <p:nvPr/>
        </p:nvSpPr>
        <p:spPr>
          <a:xfrm>
            <a:off x="5577840" y="3968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المستخدم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577840" y="4233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= نشط | تعطيل بدون حذف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39" name="Shape 35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50"/>
                      </p:stCondLst>
                      <p:childTnLst>
                        <p:par>
                          <p:cTn id="1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100"/>
                      </p:stCondLst>
                      <p:childTnLst>
                        <p:par>
                          <p:cTn id="1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2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5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100"/>
                      </p:stCondLst>
                      <p:childTnLst>
                        <p:par>
                          <p:cTn id="2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5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0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50"/>
                      </p:stCondLst>
                      <p:childTnLst>
                        <p:par>
                          <p:cTn id="2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100"/>
                      </p:stCondLst>
                      <p:childTnLst>
                        <p:par>
                          <p:cTn id="2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150"/>
                      </p:stCondLst>
                      <p:childTnLst>
                        <p:par>
                          <p:cTn id="3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200"/>
                      </p:stCondLst>
                      <p:childTnLst>
                        <p:par>
                          <p:cTn id="3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5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100"/>
                      </p:stCondLst>
                      <p:childTnLst>
                        <p:par>
                          <p:cTn id="3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7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150"/>
                      </p:stCondLst>
                      <p:childTnLst>
                        <p:par>
                          <p:cTn id="3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7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200"/>
                      </p:stCondLst>
                      <p:childTnLst>
                        <p:par>
                          <p:cTn id="3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7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77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إضافة مستخدم جديد — Add User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" y="1005840"/>
            <a:ext cx="5029200" cy="30403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4937760" cy="29489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412480" y="116128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9" name="Text 5"/>
          <p:cNvSpPr/>
          <p:nvPr/>
        </p:nvSpPr>
        <p:spPr>
          <a:xfrm>
            <a:off x="8412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40680" y="100584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40680" y="100584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04241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الكامل *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577840" y="1307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اسم الموظف كما يظهر في النظام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412480" y="189280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15" name="Text 11"/>
          <p:cNvSpPr/>
          <p:nvPr/>
        </p:nvSpPr>
        <p:spPr>
          <a:xfrm>
            <a:off x="841248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173736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40680" y="173736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4"/>
          <p:cNvSpPr/>
          <p:nvPr/>
        </p:nvSpPr>
        <p:spPr>
          <a:xfrm>
            <a:off x="5577840" y="17739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البريد الإلكتروني *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57784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إيميل تسجيل الدخول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262432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1" name="Text 17"/>
          <p:cNvSpPr/>
          <p:nvPr/>
        </p:nvSpPr>
        <p:spPr>
          <a:xfrm>
            <a:off x="8412480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40680" y="246888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40680" y="246888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0"/>
          <p:cNvSpPr/>
          <p:nvPr/>
        </p:nvSpPr>
        <p:spPr>
          <a:xfrm>
            <a:off x="5577840" y="25054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المرور *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577840" y="2770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كلمة المرور الأولية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412480" y="335584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27" name="Text 23"/>
          <p:cNvSpPr/>
          <p:nvPr/>
        </p:nvSpPr>
        <p:spPr>
          <a:xfrm>
            <a:off x="84124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40680" y="320040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440680" y="320040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Text 26"/>
          <p:cNvSpPr/>
          <p:nvPr/>
        </p:nvSpPr>
        <p:spPr>
          <a:xfrm>
            <a:off x="5577840" y="32369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 (Role) *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57784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أو Sales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8412480" y="4087368"/>
            <a:ext cx="347472" cy="347472"/>
          </a:xfrm>
          <a:prstGeom prst="ellipse">
            <a:avLst/>
          </a:prstGeom>
          <a:solidFill>
            <a:srgbClr val="E31E24"/>
          </a:solidFill>
          <a:ln/>
        </p:spPr>
      </p:sp>
      <p:sp>
        <p:nvSpPr>
          <p:cNvPr id="33" name="Text 29"/>
          <p:cNvSpPr/>
          <p:nvPr/>
        </p:nvSpPr>
        <p:spPr>
          <a:xfrm>
            <a:off x="841248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440680" y="3931920"/>
            <a:ext cx="2880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440680" y="3931920"/>
            <a:ext cx="45720" cy="65836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6" name="Text 32"/>
          <p:cNvSpPr/>
          <p:nvPr/>
        </p:nvSpPr>
        <p:spPr>
          <a:xfrm>
            <a:off x="5577840" y="3968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الشهري (KWD)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577840" y="4233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 المالي بالدينار الكويتي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39" name="Shape 35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2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2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2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2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7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7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presetID="22" presetClass="entr" presetSubtype="4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7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7" dur="4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50"/>
                      </p:stCondLst>
                      <p:childTnLst>
                        <p:par>
                          <p:cTn id="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7" dur="4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00"/>
                      </p:stCondLst>
                      <p:childTnLst>
                        <p:par>
                          <p:cTn id="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7" dur="4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150"/>
                      </p:stCondLst>
                      <p:childTnLst>
                        <p:par>
                          <p:cTn id="1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7" dur="4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200"/>
                      </p:stCondLst>
                      <p:childTnLst>
                        <p:par>
                          <p:cTn id="1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7" dur="4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7" dur="4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50"/>
                      </p:stCondLst>
                      <p:childTnLst>
                        <p:par>
                          <p:cTn id="1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7" dur="4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100"/>
                      </p:stCondLst>
                      <p:childTnLst>
                        <p:par>
                          <p:cTn id="1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7" dur="4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150"/>
                      </p:stCondLst>
                      <p:childTnLst>
                        <p:par>
                          <p:cTn id="1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7" dur="4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200"/>
                      </p:stCondLst>
                      <p:childTnLst>
                        <p:par>
                          <p:cTn id="1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7" dur="4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7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50"/>
                      </p:stCondLst>
                      <p:childTnLst>
                        <p:par>
                          <p:cTn id="1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7" dur="4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100"/>
                      </p:stCondLst>
                      <p:childTnLst>
                        <p:par>
                          <p:cTn id="1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7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150"/>
                      </p:stCondLst>
                      <p:childTnLst>
                        <p:par>
                          <p:cTn id="2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7" dur="4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200"/>
                      </p:stCondLst>
                      <p:childTnLst>
                        <p:par>
                          <p:cTn id="2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7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7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50"/>
                      </p:stCondLst>
                      <p:childTnLst>
                        <p:par>
                          <p:cTn id="2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7" dur="4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100"/>
                      </p:stCondLst>
                      <p:childTnLst>
                        <p:par>
                          <p:cTn id="2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7" dur="4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150"/>
                      </p:stCondLst>
                      <p:childTnLst>
                        <p:par>
                          <p:cTn id="2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7" dur="4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200"/>
                      </p:stCondLst>
                      <p:childTnLst>
                        <p:par>
                          <p:cTn id="2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7" dur="4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7" dur="4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50"/>
                      </p:stCondLst>
                      <p:childTnLst>
                        <p:par>
                          <p:cTn id="28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7" dur="4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100"/>
                      </p:stCondLst>
                      <p:childTnLst>
                        <p:par>
                          <p:cTn id="29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7" dur="4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150"/>
                      </p:stCondLst>
                      <p:childTnLst>
                        <p:par>
                          <p:cTn id="30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7" dur="4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200"/>
                      </p:stCondLst>
                      <p:childTnLst>
                        <p:par>
                          <p:cTn id="315" presetID="2" presetClass="entr" presetSubtype="8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7" dur="4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7" dur="4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50"/>
                      </p:stCondLst>
                      <p:childTnLst>
                        <p:par>
                          <p:cTn id="3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7" dur="4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100"/>
                      </p:stCondLst>
                      <p:childTnLst>
                        <p:par>
                          <p:cTn id="3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7" dur="4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150"/>
                      </p:stCondLst>
                      <p:childTnLst>
                        <p:par>
                          <p:cTn id="3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7" dur="40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200"/>
                      </p:stCondLst>
                      <p:childTnLst>
                        <p:par>
                          <p:cTn id="3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7" dur="40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0"/>
                      </p:stCondLst>
                      <p:childTnLst>
                        <p:par>
                          <p:cTn id="375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77" dur="4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مقارنة الصلاحيات — Admin vs Sales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الصفحة / الميزة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(مدير)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(مبيعات)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لوحة التحكم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كاملة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محدودة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إدارة الطلاب — عرض وإضافة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حذف الطلاب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خط المبيعات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المدفوعات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التقارير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تقرير تسجيل الدخول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إعدادات النظام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إدارة المستخدمين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8A7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31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3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3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3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3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4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1"/>
          <p:cNvSpPr/>
          <p:nvPr/>
        </p:nvSpPr>
        <p:spPr>
          <a:xfrm>
            <a:off x="3657600" y="731520"/>
            <a:ext cx="1645920" cy="1645920"/>
          </a:xfrm>
          <a:prstGeom prst="ellipse">
            <a:avLst/>
          </a:prstGeom>
          <a:solidFill>
            <a:srgbClr val="E31E24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914400" cy="914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شكراً لاستخدامكم نظام لانغفورد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Langford International Institute — Kuwait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2743200" y="3840480"/>
            <a:ext cx="3657600" cy="27432"/>
          </a:xfrm>
          <a:prstGeom prst="rect">
            <a:avLst/>
          </a:prstGeom>
          <a:solidFill>
            <a:srgbClr val="D4AF37">
              <a:alpha val="5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للدعم الفني تواصل مع مسؤول النظام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31E24"/>
          </a:solidFill>
          <a:ln/>
        </p:spPr>
      </p:sp>
      <p:sp>
        <p:nvSpPr>
          <p:cNvPr id="11" name="Shape 7"/>
          <p:cNvSpPr/>
          <p:nvPr/>
        </p:nvSpPr>
        <p:spPr>
          <a:xfrm>
            <a:off x="0" y="4937760"/>
            <a:ext cx="3017520" cy="205740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  <p:transition spd="med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8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200"/>
                      </p:stCondLst>
                      <p:childTnLst>
                        <p:par>
                          <p:cTn id="1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8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400"/>
                      </p:stCondLst>
                      <p:childTnLst>
                        <p:par>
                          <p:cTn id="2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600"/>
                      </p:stCondLst>
                      <p:childTnLst>
                        <p:par>
                          <p:cTn id="3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8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800"/>
                      </p:stCondLst>
                      <p:childTnLst>
                        <p:par>
                          <p:cTn id="4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7" dur="8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1000"/>
                      </p:stCondLst>
                      <p:childTnLst>
                        <p:par>
                          <p:cTn id="5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8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1200"/>
                      </p:stCondLst>
                      <p:childTnLst>
                        <p:par>
                          <p:cTn id="6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8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1400"/>
                      </p:stCondLst>
                      <p:childTnLst>
                        <p:par>
                          <p:cTn id="7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8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1600"/>
                      </p:stCondLst>
                      <p:childTnLst>
                        <p:par>
                          <p:cTn id="8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7" dur="8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1800"/>
                      </p:stCondLst>
                      <p:childTnLst>
                        <p:par>
                          <p:cTn id="95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7" dur="8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2026-03-30T17:02:55Z</dcterms:created>
  <dcterms:modified xsi:type="dcterms:W3CDTF">2026-03-30T17:02:55Z</dcterms:modified>
</cp:coreProperties>
</file>